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1645920"/>
            <a:ext cx="7680960" cy="1371600"/>
          </a:xfrm>
          <a:prstGeom prst="rect">
            <a:avLst/>
          </a:prstGeom>
          <a:noFill/>
          <a:ln/>
        </p:spPr>
        <p:txBody>
          <a:bodyPr wrap="square" rtlCol="0" anchor="ctr"/>
          <a:lstStyle/>
          <a:p>
            <a:pPr indent="0" marL="0">
              <a:buNone/>
            </a:pPr>
            <a:r>
              <a:rPr lang="en-US" sz="2800" b="1" dirty="0">
                <a:solidFill>
                  <a:srgbClr val="111827"/>
                </a:solidFill>
                <a:latin typeface="Arial" pitchFamily="34" charset="0"/>
                <a:ea typeface="Arial" pitchFamily="34" charset="-122"/>
                <a:cs typeface="Arial" pitchFamily="34" charset="-120"/>
              </a:rPr>
              <a:t>Reporte de Análisis SERP: cómo aprender seo</a:t>
            </a:r>
            <a:endParaRPr lang="en-US" sz="2800" dirty="0"/>
          </a:p>
        </p:txBody>
      </p:sp>
      <p:sp>
        <p:nvSpPr>
          <p:cNvPr id="3" name="Text 1"/>
          <p:cNvSpPr/>
          <p:nvPr/>
        </p:nvSpPr>
        <p:spPr>
          <a:xfrm>
            <a:off x="731520" y="3017520"/>
            <a:ext cx="7680960" cy="914400"/>
          </a:xfrm>
          <a:prstGeom prst="rect">
            <a:avLst/>
          </a:prstGeom>
          <a:noFill/>
          <a:ln/>
        </p:spPr>
        <p:txBody>
          <a:bodyPr wrap="square" rtlCol="0" anchor="ctr"/>
          <a:lstStyle/>
          <a:p>
            <a:pPr indent="0" marL="0">
              <a:lnSpc>
                <a:spcPts val="1800"/>
              </a:lnSpc>
              <a:buNone/>
            </a:pPr>
            <a:r>
              <a:rPr lang="en-US" sz="1300" dirty="0">
                <a:solidFill>
                  <a:srgbClr val="4B5563"/>
                </a:solidFill>
                <a:latin typeface="Arial" pitchFamily="34" charset="0"/>
                <a:ea typeface="Arial" pitchFamily="34" charset="-122"/>
                <a:cs typeface="Arial" pitchFamily="34" charset="-120"/>
              </a:rPr>
              <a:t>Ubicación de Consulta: España (Madrid)</a:t>
            </a:r>
            <a:endParaRPr lang="en-US" sz="1300" dirty="0"/>
          </a:p>
          <a:p>
            <a:pPr indent="0" marL="0">
              <a:lnSpc>
                <a:spcPts val="1800"/>
              </a:lnSpc>
              <a:buNone/>
            </a:pPr>
            <a:r>
              <a:rPr lang="en-US" sz="1300" dirty="0">
                <a:solidFill>
                  <a:srgbClr val="4B5563"/>
                </a:solidFill>
                <a:latin typeface="Arial" pitchFamily="34" charset="0"/>
                <a:ea typeface="Arial" pitchFamily="34" charset="-122"/>
                <a:cs typeface="Arial" pitchFamily="34" charset="-120"/>
              </a:rPr>
              <a:t>Fecha de Generación: 29 de mayo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Intención de Búsqueda y Métricas</a:t>
            </a:r>
            <a:endParaRPr lang="en-US" sz="2000" dirty="0"/>
          </a:p>
        </p:txBody>
      </p:sp>
      <p:sp>
        <p:nvSpPr>
          <p:cNvPr id="3" name="Text 1"/>
          <p:cNvSpPr/>
          <p:nvPr/>
        </p:nvSpPr>
        <p:spPr>
          <a:xfrm>
            <a:off x="548640" y="1097280"/>
            <a:ext cx="3749040" cy="365760"/>
          </a:xfrm>
          <a:prstGeom prst="rect">
            <a:avLst/>
          </a:prstGeom>
          <a:noFill/>
          <a:ln/>
        </p:spPr>
        <p:txBody>
          <a:bodyPr wrap="square" rtlCol="0" anchor="ctr"/>
          <a:lstStyle/>
          <a:p>
            <a:pPr indent="0" marL="0">
              <a:buNone/>
            </a:pPr>
            <a:r>
              <a:rPr lang="en-US" sz="1300" b="1" dirty="0">
                <a:solidFill>
                  <a:srgbClr val="374151"/>
                </a:solidFill>
                <a:latin typeface="Arial" pitchFamily="34" charset="0"/>
                <a:ea typeface="Arial" pitchFamily="34" charset="-122"/>
                <a:cs typeface="Arial" pitchFamily="34" charset="-120"/>
              </a:rPr>
              <a:t>Distribución de Intenciones:</a:t>
            </a:r>
            <a:endParaRPr lang="en-US" sz="1300" dirty="0"/>
          </a:p>
        </p:txBody>
      </p:sp>
      <p:sp>
        <p:nvSpPr>
          <p:cNvPr id="4" name="Text 2"/>
          <p:cNvSpPr/>
          <p:nvPr/>
        </p:nvSpPr>
        <p:spPr>
          <a:xfrm>
            <a:off x="548640" y="1554480"/>
            <a:ext cx="3749040" cy="2926080"/>
          </a:xfrm>
          <a:prstGeom prst="rect">
            <a:avLst/>
          </a:prstGeom>
          <a:noFill/>
          <a:ln/>
        </p:spPr>
        <p:txBody>
          <a:bodyPr wrap="square" rtlCol="0" anchor="ctr"/>
          <a:lstStyle/>
          <a:p>
            <a:pPr indent="0" marL="0">
              <a:buNone/>
            </a:pPr>
            <a:r>
              <a:rPr lang="en-US" sz="1200" dirty="0">
                <a:solidFill>
                  <a:srgbClr val="4B5563"/>
                </a:solidFill>
                <a:latin typeface="Arial" pitchFamily="34" charset="0"/>
                <a:ea typeface="Arial" pitchFamily="34" charset="-122"/>
                <a:cs typeface="Arial" pitchFamily="34" charset="-120"/>
              </a:rPr>
              <a:t>• Informacional: 60%</a:t>
            </a:r>
            <a:endParaRPr lang="en-US" sz="1200" dirty="0"/>
          </a:p>
          <a:p>
            <a:pPr indent="0" marL="0">
              <a:buNone/>
            </a:pPr>
            <a:endParaRPr lang="en-US" sz="1200" dirty="0"/>
          </a:p>
          <a:p>
            <a:pPr indent="0" marL="0">
              <a:buNone/>
            </a:pPr>
            <a:r>
              <a:rPr lang="en-US" sz="1200" dirty="0">
                <a:solidFill>
                  <a:srgbClr val="4B5563"/>
                </a:solidFill>
                <a:latin typeface="Arial" pitchFamily="34" charset="0"/>
                <a:ea typeface="Arial" pitchFamily="34" charset="-122"/>
                <a:cs typeface="Arial" pitchFamily="34" charset="-120"/>
              </a:rPr>
              <a:t>• Navegacional: 5%</a:t>
            </a:r>
            <a:endParaRPr lang="en-US" sz="1200" dirty="0"/>
          </a:p>
          <a:p>
            <a:pPr indent="0" marL="0">
              <a:buNone/>
            </a:pPr>
            <a:endParaRPr lang="en-US" sz="1200" dirty="0"/>
          </a:p>
          <a:p>
            <a:pPr indent="0" marL="0">
              <a:buNone/>
            </a:pPr>
            <a:r>
              <a:rPr lang="en-US" sz="1200" dirty="0">
                <a:solidFill>
                  <a:srgbClr val="4B5563"/>
                </a:solidFill>
                <a:latin typeface="Arial" pitchFamily="34" charset="0"/>
                <a:ea typeface="Arial" pitchFamily="34" charset="-122"/>
                <a:cs typeface="Arial" pitchFamily="34" charset="-120"/>
              </a:rPr>
              <a:t>• Comercial: 35%</a:t>
            </a:r>
            <a:endParaRPr lang="en-US" sz="1200" dirty="0"/>
          </a:p>
          <a:p>
            <a:pPr indent="0" marL="0">
              <a:buNone/>
            </a:pPr>
            <a:endParaRPr lang="en-US" sz="1200" dirty="0"/>
          </a:p>
          <a:p>
            <a:pPr indent="0" marL="0">
              <a:buNone/>
            </a:pPr>
            <a:r>
              <a:rPr lang="en-US" sz="1200" dirty="0">
                <a:solidFill>
                  <a:srgbClr val="4B5563"/>
                </a:solidFill>
                <a:latin typeface="Arial" pitchFamily="34" charset="0"/>
                <a:ea typeface="Arial" pitchFamily="34" charset="-122"/>
                <a:cs typeface="Arial" pitchFamily="34" charset="-120"/>
              </a:rPr>
              <a:t>• Transaccional: 0%</a:t>
            </a:r>
            <a:endParaRPr lang="en-US" sz="1200" dirty="0"/>
          </a:p>
        </p:txBody>
      </p:sp>
      <p:sp>
        <p:nvSpPr>
          <p:cNvPr id="5" name="Text 3"/>
          <p:cNvSpPr/>
          <p:nvPr/>
        </p:nvSpPr>
        <p:spPr>
          <a:xfrm>
            <a:off x="4846320" y="1097280"/>
            <a:ext cx="3749040" cy="365760"/>
          </a:xfrm>
          <a:prstGeom prst="rect">
            <a:avLst/>
          </a:prstGeom>
          <a:noFill/>
          <a:ln/>
        </p:spPr>
        <p:txBody>
          <a:bodyPr wrap="square" rtlCol="0" anchor="ctr"/>
          <a:lstStyle/>
          <a:p>
            <a:pPr indent="0" marL="0">
              <a:buNone/>
            </a:pPr>
            <a:r>
              <a:rPr lang="en-US" sz="1300" b="1" dirty="0">
                <a:solidFill>
                  <a:srgbClr val="374151"/>
                </a:solidFill>
                <a:latin typeface="Arial" pitchFamily="34" charset="0"/>
                <a:ea typeface="Arial" pitchFamily="34" charset="-122"/>
                <a:cs typeface="Arial" pitchFamily="34" charset="-120"/>
              </a:rPr>
              <a:t>Diagnóstico de Intención de Búsqueda:</a:t>
            </a:r>
            <a:endParaRPr lang="en-US" sz="1300" dirty="0"/>
          </a:p>
        </p:txBody>
      </p:sp>
      <p:sp>
        <p:nvSpPr>
          <p:cNvPr id="6" name="Text 4"/>
          <p:cNvSpPr/>
          <p:nvPr/>
        </p:nvSpPr>
        <p:spPr>
          <a:xfrm>
            <a:off x="4846320" y="1554480"/>
            <a:ext cx="3749040" cy="2926080"/>
          </a:xfrm>
          <a:prstGeom prst="rect">
            <a:avLst/>
          </a:prstGeom>
          <a:noFill/>
          <a:ln/>
        </p:spPr>
        <p:txBody>
          <a:bodyPr wrap="square" rtlCol="0" anchor="ctr"/>
          <a:lstStyle/>
          <a:p>
            <a:pPr indent="0" marL="0">
              <a:lnSpc>
                <a:spcPts val="1800"/>
              </a:lnSpc>
              <a:buNone/>
            </a:pPr>
            <a:r>
              <a:rPr lang="en-US" sz="1100" dirty="0">
                <a:solidFill>
                  <a:srgbClr val="4B5563"/>
                </a:solidFill>
                <a:latin typeface="Arial" pitchFamily="34" charset="0"/>
                <a:ea typeface="Arial" pitchFamily="34" charset="-122"/>
                <a:cs typeface="Arial" pitchFamily="34" charset="-120"/>
              </a:rPr>
              <a:t>La intención predominante es informacional, buscando guías y tutoriales. También es comercial, con muchos resultados ofreciendo cursos de SEO.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Análisis Narrativo Completo</a:t>
            </a:r>
            <a:endParaRPr lang="en-US" sz="2000" dirty="0"/>
          </a:p>
        </p:txBody>
      </p:sp>
      <p:sp>
        <p:nvSpPr>
          <p:cNvPr id="3" name="Text 1"/>
          <p:cNvSpPr/>
          <p:nvPr/>
        </p:nvSpPr>
        <p:spPr>
          <a:xfrm>
            <a:off x="548640" y="1005840"/>
            <a:ext cx="8046720" cy="3749040"/>
          </a:xfrm>
          <a:prstGeom prst="rect">
            <a:avLst/>
          </a:prstGeom>
          <a:noFill/>
          <a:ln/>
        </p:spPr>
        <p:txBody>
          <a:bodyPr wrap="square" rtlCol="0" anchor="ctr"/>
          <a:lstStyle/>
          <a:p>
            <a:pPr indent="0" marL="0">
              <a:lnSpc>
                <a:spcPts val="1300"/>
              </a:lnSpc>
              <a:buNone/>
            </a:pPr>
            <a:r>
              <a:rPr lang="en-US" sz="900" dirty="0">
                <a:solidFill>
                  <a:srgbClr val="4B5563"/>
                </a:solidFill>
                <a:latin typeface="Arial" pitchFamily="34" charset="0"/>
                <a:ea typeface="Arial" pitchFamily="34" charset="-122"/>
                <a:cs typeface="Arial" pitchFamily="34" charset="-120"/>
              </a:rPr>
              <a:t>Intención de Búsqueda y SERP Features</a:t>
            </a:r>
            <a:endParaRPr lang="en-US" sz="900" dirty="0"/>
          </a:p>
          <a:p>
            <a:pPr indent="0" marL="0">
              <a:lnSpc>
                <a:spcPts val="1300"/>
              </a:lnSpc>
              <a:buNone/>
            </a:pPr>
            <a:endParaRPr lang="en-US" sz="900" dirty="0"/>
          </a:p>
          <a:p>
            <a:pPr indent="0" marL="0">
              <a:lnSpc>
                <a:spcPts val="1300"/>
              </a:lnSpc>
              <a:buNone/>
            </a:pPr>
            <a:r>
              <a:rPr lang="en-US" sz="900" dirty="0">
                <a:solidFill>
                  <a:srgbClr val="4B5563"/>
                </a:solidFill>
                <a:latin typeface="Arial" pitchFamily="34" charset="0"/>
                <a:ea typeface="Arial" pitchFamily="34" charset="-122"/>
                <a:cs typeface="Arial" pitchFamily="34" charset="-120"/>
              </a:rPr>
              <a:t>La intención predominante es informacional (60%), con usuarios buscando entender el SEO y cómo aprenderlo, a través de guías y tutoriales. Una parte significativa es comercial (35%), enfocada en la búsqueda de cursos y formación. Las características de la SERP incluyen un AI Overview que sintetiza la información principal, y varios resultados con sitelinks. Se observa una fuerte presencia de cursos online, muchos de ellos gratuitos y con opción a certificación.</a:t>
            </a:r>
            <a:endParaRPr lang="en-US" sz="900" dirty="0"/>
          </a:p>
          <a:p>
            <a:pPr indent="0" marL="0">
              <a:lnSpc>
                <a:spcPts val="1300"/>
              </a:lnSpc>
              <a:buNone/>
            </a:pPr>
            <a:endParaRPr lang="en-US" sz="900" dirty="0"/>
          </a:p>
          <a:p>
            <a:pPr indent="0" marL="0">
              <a:lnSpc>
                <a:spcPts val="1300"/>
              </a:lnSpc>
              <a:buNone/>
            </a:pPr>
            <a:endParaRPr lang="en-US" sz="900" dirty="0"/>
          </a:p>
          <a:p>
            <a:pPr indent="0" marL="0">
              <a:lnSpc>
                <a:spcPts val="1300"/>
              </a:lnSpc>
              <a:buNone/>
            </a:pPr>
            <a:r>
              <a:rPr lang="en-US" sz="900" dirty="0">
                <a:solidFill>
                  <a:srgbClr val="4B5563"/>
                </a:solidFill>
                <a:latin typeface="Arial" pitchFamily="34" charset="0"/>
                <a:ea typeface="Arial" pitchFamily="34" charset="-122"/>
                <a:cs typeface="Arial" pitchFamily="34" charset="-120"/>
              </a:rPr>
              <a:t>Descripción de competencia</a:t>
            </a:r>
            <a:endParaRPr lang="en-US" sz="900" dirty="0"/>
          </a:p>
          <a:p>
            <a:pPr indent="0" marL="0">
              <a:lnSpc>
                <a:spcPts val="1300"/>
              </a:lnSpc>
              <a:buNone/>
            </a:pPr>
            <a:endParaRPr lang="en-US" sz="900" dirty="0"/>
          </a:p>
          <a:p>
            <a:pPr indent="0" marL="0">
              <a:lnSpc>
                <a:spcPts val="1300"/>
              </a:lnSpc>
              <a:buNone/>
            </a:pPr>
            <a:r>
              <a:rPr lang="en-US" sz="900" dirty="0">
                <a:solidFill>
                  <a:srgbClr val="4B5563"/>
                </a:solidFill>
                <a:latin typeface="Arial" pitchFamily="34" charset="0"/>
                <a:ea typeface="Arial" pitchFamily="34" charset="-122"/>
                <a:cs typeface="Arial" pitchFamily="34" charset="-120"/>
              </a:rPr>
              <a:t>El panorama competitivo está dominado por plataformas reconocidas en marketing digital y SEO (DinoRANK, Google for Developers, HubSpot, Semrush, Webpositer Academy). Estas ofrecen contenido de alta autoridad y guías completas. Muchos competidores también promocionan cursos de SEO, destacando las opciones gratuitas y con certificación. La clave de su posicionamiento es la profundidad del contenido, la reputación de marca y la oferta de recursos educativos estructurados.</a:t>
            </a:r>
            <a:endParaRPr lang="en-US" sz="900" dirty="0"/>
          </a:p>
          <a:p>
            <a:pPr indent="0" marL="0">
              <a:lnSpc>
                <a:spcPts val="1300"/>
              </a:lnSpc>
              <a:buNone/>
            </a:pPr>
            <a:endParaRPr lang="en-US" sz="900" dirty="0"/>
          </a:p>
          <a:p>
            <a:pPr indent="0" marL="0">
              <a:lnSpc>
                <a:spcPts val="1300"/>
              </a:lnSpc>
              <a:buNone/>
            </a:pPr>
            <a:endParaRPr lang="en-US" sz="900" dirty="0"/>
          </a:p>
          <a:p>
            <a:pPr indent="0" marL="0">
              <a:lnSpc>
                <a:spcPts val="1300"/>
              </a:lnSpc>
              <a:buNone/>
            </a:pPr>
            <a:r>
              <a:rPr lang="en-US" sz="900" dirty="0">
                <a:solidFill>
                  <a:srgbClr val="4B5563"/>
                </a:solidFill>
                <a:latin typeface="Arial" pitchFamily="34" charset="0"/>
                <a:ea typeface="Arial" pitchFamily="34" charset="-122"/>
                <a:cs typeface="Arial" pitchFamily="34" charset="-120"/>
              </a:rPr>
              <a:t>Recomendación estratégica</a:t>
            </a:r>
            <a:endParaRPr lang="en-US" sz="900" dirty="0"/>
          </a:p>
          <a:p>
            <a:pPr indent="0" marL="0">
              <a:lnSpc>
                <a:spcPts val="1300"/>
              </a:lnSpc>
              <a:buNone/>
            </a:pPr>
            <a:endParaRPr lang="en-US" sz="900" dirty="0"/>
          </a:p>
          <a:p>
            <a:pPr indent="0" marL="0">
              <a:lnSpc>
                <a:spcPts val="1300"/>
              </a:lnSpc>
              <a:buNone/>
            </a:pPr>
            <a:r>
              <a:rPr lang="en-US" sz="900" dirty="0">
                <a:solidFill>
                  <a:srgbClr val="4B5563"/>
                </a:solidFill>
                <a:latin typeface="Arial" pitchFamily="34" charset="0"/>
                <a:ea typeface="Arial" pitchFamily="34" charset="-122"/>
                <a:cs typeface="Arial" pitchFamily="34" charset="-120"/>
              </a:rPr>
              <a:t>Para posicionarse, se debe crear una guía de SEO muy completa, estructurada para principiantes, que abarque desde los fundamentos hasta técnicas avanzadas. Se recomienda utilizar un lenguaje claro y ejemplos prácticos. Es crucial ofrecer recursos complementarios como plantillas, checklists y, si es posible, un curso gratuito de alta calidad con certificación. La optimización debe incluir palabras clave de cola larga relacionadas con el aprendizaje y "gratis" o "para principiantes".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AI Overview (Google SGE)</a:t>
            </a:r>
            <a:endParaRPr lang="en-US" sz="2000" dirty="0"/>
          </a:p>
        </p:txBody>
      </p:sp>
      <p:sp>
        <p:nvSpPr>
          <p:cNvPr id="3" name="Text 1"/>
          <p:cNvSpPr/>
          <p:nvPr/>
        </p:nvSpPr>
        <p:spPr>
          <a:xfrm>
            <a:off x="548640" y="1097280"/>
            <a:ext cx="8046720" cy="365760"/>
          </a:xfrm>
          <a:prstGeom prst="rect">
            <a:avLst/>
          </a:prstGeom>
          <a:noFill/>
          <a:ln/>
        </p:spPr>
        <p:txBody>
          <a:bodyPr wrap="square" rtlCol="0" anchor="ctr"/>
          <a:lstStyle/>
          <a:p>
            <a:pPr indent="0" marL="0">
              <a:buNone/>
            </a:pPr>
            <a:r>
              <a:rPr lang="en-US" sz="1300" b="1" dirty="0">
                <a:solidFill>
                  <a:srgbClr val="374151"/>
                </a:solidFill>
                <a:latin typeface="Arial" pitchFamily="34" charset="0"/>
                <a:ea typeface="Arial" pitchFamily="34" charset="-122"/>
                <a:cs typeface="Arial" pitchFamily="34" charset="-120"/>
              </a:rPr>
              <a:t>Resumen Sintetizado por la IA:</a:t>
            </a:r>
            <a:endParaRPr lang="en-US" sz="1300" dirty="0"/>
          </a:p>
        </p:txBody>
      </p:sp>
      <p:sp>
        <p:nvSpPr>
          <p:cNvPr id="4" name="Text 2"/>
          <p:cNvSpPr/>
          <p:nvPr/>
        </p:nvSpPr>
        <p:spPr>
          <a:xfrm>
            <a:off x="548640" y="1463040"/>
            <a:ext cx="8046720" cy="1828800"/>
          </a:xfrm>
          <a:prstGeom prst="rect">
            <a:avLst/>
          </a:prstGeom>
          <a:noFill/>
          <a:ln/>
        </p:spPr>
        <p:txBody>
          <a:bodyPr wrap="square" rtlCol="0" anchor="ctr"/>
          <a:lstStyle/>
          <a:p>
            <a:pPr indent="0" marL="0">
              <a:lnSpc>
                <a:spcPts val="1600"/>
              </a:lnSpc>
              <a:buNone/>
            </a:pPr>
            <a:r>
              <a:rPr lang="en-US" sz="1050" dirty="0">
                <a:solidFill>
                  <a:srgbClr val="4B5563"/>
                </a:solidFill>
                <a:latin typeface="Arial" pitchFamily="34" charset="0"/>
                <a:ea typeface="Arial" pitchFamily="34" charset="-122"/>
                <a:cs typeface="Arial" pitchFamily="34" charset="-120"/>
              </a:rPr>
              <a:t>Aprender SEO implica entender su funcionamiento, desde la planificación de contenidos con palabras clave hasta la optimización on-page y off-page, y el uso de herramientas de análisis. Es esencial comprender cómo Google rastrea e indexa el contenido para mejorar la visibilidad web y atraer tráfico orgánico.</a:t>
            </a:r>
            <a:endParaRPr lang="en-US" sz="1050" dirty="0"/>
          </a:p>
        </p:txBody>
      </p:sp>
      <p:sp>
        <p:nvSpPr>
          <p:cNvPr id="5" name="Text 3"/>
          <p:cNvSpPr/>
          <p:nvPr/>
        </p:nvSpPr>
        <p:spPr>
          <a:xfrm>
            <a:off x="548640" y="3474720"/>
            <a:ext cx="8046720" cy="274320"/>
          </a:xfrm>
          <a:prstGeom prst="rect">
            <a:avLst/>
          </a:prstGeom>
          <a:noFill/>
          <a:ln/>
        </p:spPr>
        <p:txBody>
          <a:bodyPr wrap="square" rtlCol="0" anchor="ctr"/>
          <a:lstStyle/>
          <a:p>
            <a:pPr indent="0" marL="0">
              <a:buNone/>
            </a:pPr>
            <a:r>
              <a:rPr lang="en-US" sz="1200" b="1" dirty="0">
                <a:solidFill>
                  <a:srgbClr val="374151"/>
                </a:solidFill>
                <a:latin typeface="Arial" pitchFamily="34" charset="0"/>
                <a:ea typeface="Arial" pitchFamily="34" charset="-122"/>
                <a:cs typeface="Arial" pitchFamily="34" charset="-120"/>
              </a:rPr>
              <a:t>Recomendación Estratégica de Citación:</a:t>
            </a:r>
            <a:endParaRPr lang="en-US" sz="1200" dirty="0"/>
          </a:p>
        </p:txBody>
      </p:sp>
      <p:sp>
        <p:nvSpPr>
          <p:cNvPr id="6" name="Text 4"/>
          <p:cNvSpPr/>
          <p:nvPr/>
        </p:nvSpPr>
        <p:spPr>
          <a:xfrm>
            <a:off x="548640" y="3840480"/>
            <a:ext cx="8046720" cy="822960"/>
          </a:xfrm>
          <a:prstGeom prst="rect">
            <a:avLst/>
          </a:prstGeom>
          <a:noFill/>
          <a:ln/>
        </p:spPr>
        <p:txBody>
          <a:bodyPr wrap="square" rtlCol="0" anchor="ctr"/>
          <a:lstStyle/>
          <a:p>
            <a:pPr indent="0" marL="0">
              <a:buNone/>
            </a:pPr>
            <a:r>
              <a:rPr lang="en-US" sz="1050" i="1" dirty="0">
                <a:solidFill>
                  <a:srgbClr val="1F2937"/>
                </a:solidFill>
                <a:latin typeface="Arial" pitchFamily="34" charset="0"/>
                <a:ea typeface="Arial" pitchFamily="34" charset="-122"/>
                <a:cs typeface="Arial" pitchFamily="34" charset="-120"/>
              </a:rPr>
              <a:t>Para ser citado por la IA, una web debe ofrecer contenido exhaustivo y bien estructurado sobre SEO, incluir definiciones claras, guías paso a paso y referencias a fuentes autorizadas como Google. La presencia de listas y resúmenes concisos también es beneficiosa.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Estrategia SEO Sugerida</a:t>
            </a:r>
            <a:endParaRPr lang="en-US" sz="2000" dirty="0"/>
          </a:p>
        </p:txBody>
      </p:sp>
      <p:sp>
        <p:nvSpPr>
          <p:cNvPr id="3" name="Text 1"/>
          <p:cNvSpPr/>
          <p:nvPr/>
        </p:nvSpPr>
        <p:spPr>
          <a:xfrm>
            <a:off x="548640" y="1097280"/>
            <a:ext cx="3749040" cy="274320"/>
          </a:xfrm>
          <a:prstGeom prst="rect">
            <a:avLst/>
          </a:prstGeom>
          <a:noFill/>
          <a:ln/>
        </p:spPr>
        <p:txBody>
          <a:bodyPr wrap="square" rtlCol="0" anchor="ctr"/>
          <a:lstStyle/>
          <a:p>
            <a:pPr indent="0" marL="0">
              <a:buNone/>
            </a:pPr>
            <a:r>
              <a:rPr lang="en-US" sz="1200" b="1" dirty="0">
                <a:solidFill>
                  <a:srgbClr val="374151"/>
                </a:solidFill>
                <a:latin typeface="Arial" pitchFamily="34" charset="0"/>
                <a:ea typeface="Arial" pitchFamily="34" charset="-122"/>
                <a:cs typeface="Arial" pitchFamily="34" charset="-120"/>
              </a:rPr>
              <a:t>Meta Tags Recomendados:</a:t>
            </a:r>
            <a:endParaRPr lang="en-US" sz="1200" dirty="0"/>
          </a:p>
        </p:txBody>
      </p:sp>
      <p:sp>
        <p:nvSpPr>
          <p:cNvPr id="4" name="Text 2"/>
          <p:cNvSpPr/>
          <p:nvPr/>
        </p:nvSpPr>
        <p:spPr>
          <a:xfrm>
            <a:off x="548640" y="1463040"/>
            <a:ext cx="3749040" cy="182880"/>
          </a:xfrm>
          <a:prstGeom prst="rect">
            <a:avLst/>
          </a:prstGeom>
          <a:noFill/>
          <a:ln/>
        </p:spPr>
        <p:txBody>
          <a:bodyPr wrap="square" rtlCol="0" anchor="ctr"/>
          <a:lstStyle/>
          <a:p>
            <a:pPr indent="0" marL="0">
              <a:buNone/>
            </a:pPr>
            <a:r>
              <a:rPr lang="en-US" sz="1000" b="1" dirty="0">
                <a:solidFill>
                  <a:srgbClr val="6B7280"/>
                </a:solidFill>
                <a:latin typeface="Arial" pitchFamily="34" charset="0"/>
                <a:ea typeface="Arial" pitchFamily="34" charset="-122"/>
                <a:cs typeface="Arial" pitchFamily="34" charset="-120"/>
              </a:rPr>
              <a:t>Meta Title Sugerido:</a:t>
            </a:r>
            <a:endParaRPr lang="en-US" sz="1000" dirty="0"/>
          </a:p>
        </p:txBody>
      </p:sp>
      <p:sp>
        <p:nvSpPr>
          <p:cNvPr id="5" name="Text 3"/>
          <p:cNvSpPr/>
          <p:nvPr/>
        </p:nvSpPr>
        <p:spPr>
          <a:xfrm>
            <a:off x="548640" y="1737360"/>
            <a:ext cx="3749040" cy="548640"/>
          </a:xfrm>
          <a:prstGeom prst="rect">
            <a:avLst/>
          </a:prstGeom>
          <a:noFill/>
          <a:ln/>
        </p:spPr>
        <p:txBody>
          <a:bodyPr wrap="square" rtlCol="0" anchor="ctr"/>
          <a:lstStyle/>
          <a:p>
            <a:pPr indent="0" marL="0">
              <a:buNone/>
            </a:pPr>
            <a:r>
              <a:rPr lang="en-US" sz="1100" b="1" dirty="0">
                <a:solidFill>
                  <a:srgbClr val="111827"/>
                </a:solidFill>
                <a:latin typeface="Arial" pitchFamily="34" charset="0"/>
                <a:ea typeface="Arial" pitchFamily="34" charset="-122"/>
                <a:cs typeface="Arial" pitchFamily="34" charset="-120"/>
              </a:rPr>
              <a:t>Cómo Aprender SEO Desde Cero: Guía Completa y Cursos Gratuitos para Principiantes</a:t>
            </a:r>
            <a:endParaRPr lang="en-US" sz="1100" dirty="0"/>
          </a:p>
        </p:txBody>
      </p:sp>
      <p:sp>
        <p:nvSpPr>
          <p:cNvPr id="6" name="Text 4"/>
          <p:cNvSpPr/>
          <p:nvPr/>
        </p:nvSpPr>
        <p:spPr>
          <a:xfrm>
            <a:off x="548640" y="2468880"/>
            <a:ext cx="3749040" cy="182880"/>
          </a:xfrm>
          <a:prstGeom prst="rect">
            <a:avLst/>
          </a:prstGeom>
          <a:noFill/>
          <a:ln/>
        </p:spPr>
        <p:txBody>
          <a:bodyPr wrap="square" rtlCol="0" anchor="ctr"/>
          <a:lstStyle/>
          <a:p>
            <a:pPr indent="0" marL="0">
              <a:buNone/>
            </a:pPr>
            <a:r>
              <a:rPr lang="en-US" sz="1000" b="1" dirty="0">
                <a:solidFill>
                  <a:srgbClr val="6B7280"/>
                </a:solidFill>
                <a:latin typeface="Arial" pitchFamily="34" charset="0"/>
                <a:ea typeface="Arial" pitchFamily="34" charset="-122"/>
                <a:cs typeface="Arial" pitchFamily="34" charset="-120"/>
              </a:rPr>
              <a:t>Meta Description Sugerida:</a:t>
            </a:r>
            <a:endParaRPr lang="en-US" sz="1000" dirty="0"/>
          </a:p>
        </p:txBody>
      </p:sp>
      <p:sp>
        <p:nvSpPr>
          <p:cNvPr id="7" name="Text 5"/>
          <p:cNvSpPr/>
          <p:nvPr/>
        </p:nvSpPr>
        <p:spPr>
          <a:xfrm>
            <a:off x="548640" y="2743200"/>
            <a:ext cx="3749040" cy="914400"/>
          </a:xfrm>
          <a:prstGeom prst="rect">
            <a:avLst/>
          </a:prstGeom>
          <a:noFill/>
          <a:ln/>
        </p:spPr>
        <p:txBody>
          <a:bodyPr wrap="square" rtlCol="0" anchor="ctr"/>
          <a:lstStyle/>
          <a:p>
            <a:pPr indent="0" marL="0">
              <a:lnSpc>
                <a:spcPts val="1500"/>
              </a:lnSpc>
              <a:buNone/>
            </a:pPr>
            <a:r>
              <a:rPr lang="en-US" sz="1050" dirty="0">
                <a:solidFill>
                  <a:srgbClr val="4B5563"/>
                </a:solidFill>
                <a:latin typeface="Arial" pitchFamily="34" charset="0"/>
                <a:ea typeface="Arial" pitchFamily="34" charset="-122"/>
                <a:cs typeface="Arial" pitchFamily="34" charset="-120"/>
              </a:rPr>
              <a:t>Domina el SEO con nuestra guía paso a paso y descubre los mejores cursos online gratuitos para aprender posicionamiento web y triunfar en Google.</a:t>
            </a:r>
            <a:endParaRPr lang="en-US" sz="1050" dirty="0"/>
          </a:p>
        </p:txBody>
      </p:sp>
      <p:sp>
        <p:nvSpPr>
          <p:cNvPr id="8" name="Text 6"/>
          <p:cNvSpPr/>
          <p:nvPr/>
        </p:nvSpPr>
        <p:spPr>
          <a:xfrm>
            <a:off x="4846320" y="1097280"/>
            <a:ext cx="3749040" cy="274320"/>
          </a:xfrm>
          <a:prstGeom prst="rect">
            <a:avLst/>
          </a:prstGeom>
          <a:noFill/>
          <a:ln/>
        </p:spPr>
        <p:txBody>
          <a:bodyPr wrap="square" rtlCol="0" anchor="ctr"/>
          <a:lstStyle/>
          <a:p>
            <a:pPr indent="0" marL="0">
              <a:buNone/>
            </a:pPr>
            <a:r>
              <a:rPr lang="en-US" sz="1200" b="1" dirty="0">
                <a:solidFill>
                  <a:srgbClr val="374151"/>
                </a:solidFill>
                <a:latin typeface="Arial" pitchFamily="34" charset="0"/>
                <a:ea typeface="Arial" pitchFamily="34" charset="-122"/>
                <a:cs typeface="Arial" pitchFamily="34" charset="-120"/>
              </a:rPr>
              <a:t>Guía Táctica:</a:t>
            </a:r>
            <a:endParaRPr lang="en-US" sz="1200" dirty="0"/>
          </a:p>
        </p:txBody>
      </p:sp>
      <p:sp>
        <p:nvSpPr>
          <p:cNvPr id="9" name="Text 7"/>
          <p:cNvSpPr/>
          <p:nvPr/>
        </p:nvSpPr>
        <p:spPr>
          <a:xfrm>
            <a:off x="4846320" y="1463040"/>
            <a:ext cx="3749040" cy="3200400"/>
          </a:xfrm>
          <a:prstGeom prst="rect">
            <a:avLst/>
          </a:prstGeom>
          <a:noFill/>
          <a:ln/>
        </p:spPr>
        <p:txBody>
          <a:bodyPr wrap="square" rtlCol="0" anchor="ctr"/>
          <a:lstStyle/>
          <a:p>
            <a:pPr indent="0" marL="0">
              <a:lnSpc>
                <a:spcPts val="1400"/>
              </a:lnSpc>
              <a:buNone/>
            </a:pPr>
            <a:r>
              <a:rPr lang="en-US" sz="950" dirty="0">
                <a:solidFill>
                  <a:srgbClr val="4B5563"/>
                </a:solidFill>
                <a:latin typeface="Arial" pitchFamily="34" charset="0"/>
                <a:ea typeface="Arial" pitchFamily="34" charset="-122"/>
                <a:cs typeface="Arial" pitchFamily="34" charset="-120"/>
              </a:rPr>
              <a:t>La estrategia debe enfocarse en crear contenido exhaustivo y actualizado que sirva como guía de aprendizaje para principiantes. Incluir secciones sobre conceptos básicos, SEO On-Page/Off-Page, herramientas esenciales y consejos prácticos. Además, ofrecer o recomendar cursos de alta calidad, ya sean propios o de terceros, con énfasis en la gratuidad y certificación, para captar la intención comercial.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SERP Features y Búsquedas Relacionadas</a:t>
            </a:r>
            <a:endParaRPr lang="en-US" sz="2000" dirty="0"/>
          </a:p>
        </p:txBody>
      </p:sp>
      <p:sp>
        <p:nvSpPr>
          <p:cNvPr id="3" name="Text 1"/>
          <p:cNvSpPr/>
          <p:nvPr/>
        </p:nvSpPr>
        <p:spPr>
          <a:xfrm>
            <a:off x="548640" y="1097280"/>
            <a:ext cx="3749040" cy="274320"/>
          </a:xfrm>
          <a:prstGeom prst="rect">
            <a:avLst/>
          </a:prstGeom>
          <a:noFill/>
          <a:ln/>
        </p:spPr>
        <p:txBody>
          <a:bodyPr wrap="square" rtlCol="0" anchor="ctr"/>
          <a:lstStyle/>
          <a:p>
            <a:pPr indent="0" marL="0">
              <a:buNone/>
            </a:pPr>
            <a:r>
              <a:rPr lang="en-US" sz="1200" b="1" dirty="0">
                <a:solidFill>
                  <a:srgbClr val="374151"/>
                </a:solidFill>
                <a:latin typeface="Arial" pitchFamily="34" charset="0"/>
                <a:ea typeface="Arial" pitchFamily="34" charset="-122"/>
                <a:cs typeface="Arial" pitchFamily="34" charset="-120"/>
              </a:rPr>
              <a:t>Características de la SERP Detectadas:</a:t>
            </a:r>
            <a:endParaRPr lang="en-US" sz="1200" dirty="0"/>
          </a:p>
        </p:txBody>
      </p:sp>
      <p:sp>
        <p:nvSpPr>
          <p:cNvPr id="4" name="Text 2"/>
          <p:cNvSpPr/>
          <p:nvPr/>
        </p:nvSpPr>
        <p:spPr>
          <a:xfrm>
            <a:off x="548640" y="1554480"/>
            <a:ext cx="3749040" cy="3108960"/>
          </a:xfrm>
          <a:prstGeom prst="rect">
            <a:avLst/>
          </a:prstGeom>
          <a:noFill/>
          <a:ln/>
        </p:spPr>
        <p:txBody>
          <a:bodyPr wrap="square" rtlCol="0" anchor="ctr"/>
          <a:lstStyle/>
          <a:p>
            <a:pPr indent="0" marL="0">
              <a:buNone/>
            </a:pPr>
            <a:r>
              <a:rPr lang="en-US" sz="950" dirty="0">
                <a:solidFill>
                  <a:srgbClr val="4B5563"/>
                </a:solidFill>
                <a:latin typeface="Arial" pitchFamily="34" charset="0"/>
                <a:ea typeface="Arial" pitchFamily="34" charset="-122"/>
                <a:cs typeface="Arial" pitchFamily="34" charset="-120"/>
              </a:rPr>
              <a:t>• AI Overview: Resumen generado por IA con fragmentos de múltiples fuentes sobre cómo aprender SEO.</a:t>
            </a:r>
            <a:endParaRPr lang="en-US" sz="950" dirty="0"/>
          </a:p>
          <a:p>
            <a:pPr indent="0" marL="0">
              <a:buNone/>
            </a:pPr>
            <a:endParaRPr lang="en-US" sz="950" dirty="0"/>
          </a:p>
          <a:p>
            <a:pPr indent="0" marL="0">
              <a:buNone/>
            </a:pPr>
            <a:r>
              <a:rPr lang="en-US" sz="950" dirty="0">
                <a:solidFill>
                  <a:srgbClr val="4B5563"/>
                </a:solidFill>
                <a:latin typeface="Arial" pitchFamily="34" charset="0"/>
                <a:ea typeface="Arial" pitchFamily="34" charset="-122"/>
                <a:cs typeface="Arial" pitchFamily="34" charset="-120"/>
              </a:rPr>
              <a:t>• Sitelinks: Algunos resultados muestran enlaces directos a secciones internas del sitio, como "Cómo funciona la Búsqueda de Google" o "Organiza tu sitio" para Google for Developers.</a:t>
            </a:r>
            <a:endParaRPr lang="en-US" sz="950" dirty="0"/>
          </a:p>
          <a:p>
            <a:pPr indent="0" marL="0">
              <a:buNone/>
            </a:pPr>
            <a:endParaRPr lang="en-US" sz="950" dirty="0"/>
          </a:p>
          <a:p>
            <a:pPr indent="0" marL="0">
              <a:buNone/>
            </a:pPr>
            <a:r>
              <a:rPr lang="en-US" sz="950" dirty="0">
                <a:solidFill>
                  <a:srgbClr val="4B5563"/>
                </a:solidFill>
                <a:latin typeface="Arial" pitchFamily="34" charset="0"/>
                <a:ea typeface="Arial" pitchFamily="34" charset="-122"/>
                <a:cs typeface="Arial" pitchFamily="34" charset="-120"/>
              </a:rPr>
              <a:t>• Cursos online: Abundante presencia de plataformas que ofrecen cursos de SEO, muchos de ellos gratuitos y con certificación.</a:t>
            </a:r>
            <a:endParaRPr lang="en-US" sz="950" dirty="0"/>
          </a:p>
        </p:txBody>
      </p:sp>
      <p:sp>
        <p:nvSpPr>
          <p:cNvPr id="5" name="Text 3"/>
          <p:cNvSpPr/>
          <p:nvPr/>
        </p:nvSpPr>
        <p:spPr>
          <a:xfrm>
            <a:off x="4846320" y="1097280"/>
            <a:ext cx="3749040" cy="274320"/>
          </a:xfrm>
          <a:prstGeom prst="rect">
            <a:avLst/>
          </a:prstGeom>
          <a:noFill/>
          <a:ln/>
        </p:spPr>
        <p:txBody>
          <a:bodyPr wrap="square" rtlCol="0" anchor="ctr"/>
          <a:lstStyle/>
          <a:p>
            <a:pPr indent="0" marL="0">
              <a:buNone/>
            </a:pPr>
            <a:r>
              <a:rPr lang="en-US" sz="1200" b="1" dirty="0">
                <a:solidFill>
                  <a:srgbClr val="374151"/>
                </a:solidFill>
                <a:latin typeface="Arial" pitchFamily="34" charset="0"/>
                <a:ea typeface="Arial" pitchFamily="34" charset="-122"/>
                <a:cs typeface="Arial" pitchFamily="34" charset="-120"/>
              </a:rPr>
              <a:t>Búsquedas Relacionadas:</a:t>
            </a:r>
            <a:endParaRPr lang="en-US" sz="1200" dirty="0"/>
          </a:p>
        </p:txBody>
      </p:sp>
      <p:sp>
        <p:nvSpPr>
          <p:cNvPr id="6" name="Text 4"/>
          <p:cNvSpPr/>
          <p:nvPr/>
        </p:nvSpPr>
        <p:spPr>
          <a:xfrm>
            <a:off x="4846320" y="1554480"/>
            <a:ext cx="3749040" cy="3108960"/>
          </a:xfrm>
          <a:prstGeom prst="rect">
            <a:avLst/>
          </a:prstGeom>
          <a:noFill/>
          <a:ln/>
        </p:spPr>
        <p:txBody>
          <a:bodyPr wrap="square" rtlCol="0" anchor="ctr"/>
          <a:lstStyle/>
          <a:p>
            <a:pPr indent="0" marL="0">
              <a:buNone/>
            </a:pPr>
            <a:r>
              <a:rPr lang="en-US" sz="1050" dirty="0">
                <a:solidFill>
                  <a:srgbClr val="4B5563"/>
                </a:solidFill>
                <a:latin typeface="Arial" pitchFamily="34" charset="0"/>
                <a:ea typeface="Arial" pitchFamily="34" charset="-122"/>
                <a:cs typeface="Arial" pitchFamily="34" charset="-120"/>
              </a:rPr>
              <a:t>• cursos de seo gratis</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seo para principiantes</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que es el seo</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tutorial seo</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herramientas seo</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cómo funciona google</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aprender seo online</a:t>
            </a:r>
            <a:endParaRPr lang="en-US" sz="1050" dirty="0"/>
          </a:p>
          <a:p>
            <a:pPr indent="0" marL="0">
              <a:buNone/>
            </a:pPr>
            <a:endParaRPr lang="en-US" sz="1050" dirty="0"/>
          </a:p>
          <a:p>
            <a:pPr indent="0" marL="0">
              <a:buNone/>
            </a:pPr>
            <a:r>
              <a:rPr lang="en-US" sz="1050" dirty="0">
                <a:solidFill>
                  <a:srgbClr val="4B5563"/>
                </a:solidFill>
                <a:latin typeface="Arial" pitchFamily="34" charset="0"/>
                <a:ea typeface="Arial" pitchFamily="34" charset="-122"/>
                <a:cs typeface="Arial" pitchFamily="34" charset="-120"/>
              </a:rPr>
              <a:t>• certificación seo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8046720" cy="457200"/>
          </a:xfrm>
          <a:prstGeom prst="rect">
            <a:avLst/>
          </a:prstGeom>
          <a:noFill/>
          <a:ln/>
        </p:spPr>
        <p:txBody>
          <a:bodyPr wrap="square" rtlCol="0" anchor="ctr"/>
          <a:lstStyle/>
          <a:p>
            <a:pPr indent="0" marL="0">
              <a:buNone/>
            </a:pPr>
            <a:r>
              <a:rPr lang="en-US" sz="2000" b="1" dirty="0">
                <a:solidFill>
                  <a:srgbClr val="111827"/>
                </a:solidFill>
                <a:latin typeface="Arial" pitchFamily="34" charset="0"/>
                <a:ea typeface="Arial" pitchFamily="34" charset="-122"/>
                <a:cs typeface="Arial" pitchFamily="34" charset="-120"/>
              </a:rPr>
              <a:t>Resultados Orgánicos Principales (Top 10)</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3749040"/>
        </p:xfrm>
        <a:graphic>
          <a:graphicData uri="http://schemas.openxmlformats.org/drawingml/2006/table">
            <a:tbl>
              <a:tblPr/>
              <a:tblGrid>
                <a:gridCol w="457200"/>
                <a:gridCol w="3017520"/>
                <a:gridCol w="4572000"/>
              </a:tblGrid>
              <a:tr h="340822">
                <a:tc>
                  <a:txBody>
                    <a:bodyPr/>
                    <a:lstStyle/>
                    <a:p>
                      <a:pPr algn="ctr" indent="0" marL="0">
                        <a:buNone/>
                      </a:pPr>
                      <a:r>
                        <a:rPr lang="en-US" sz="950" b="1" dirty="0">
                          <a:solidFill>
                            <a:srgbClr val="111827"/>
                          </a:solidFill>
                          <a:latin typeface="Arial" pitchFamily="34" charset="0"/>
                          <a:ea typeface="Arial" pitchFamily="34" charset="-122"/>
                          <a:cs typeface="Arial" pitchFamily="34" charset="-120"/>
                        </a:rPr>
                        <a:t>Pos</a:t>
                      </a:r>
                      <a:endParaRPr lang="en-US" sz="9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b="1" dirty="0">
                          <a:solidFill>
                            <a:srgbClr val="111827"/>
                          </a:solidFill>
                          <a:latin typeface="Arial" pitchFamily="34" charset="0"/>
                          <a:ea typeface="Arial" pitchFamily="34" charset="-122"/>
                          <a:cs typeface="Arial" pitchFamily="34" charset="-120"/>
                        </a:rPr>
                        <a:t>Resultado (Título y Dominio)</a:t>
                      </a:r>
                      <a:endParaRPr lang="en-US" sz="9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950" b="1" dirty="0">
                          <a:solidFill>
                            <a:srgbClr val="111827"/>
                          </a:solidFill>
                          <a:latin typeface="Arial" pitchFamily="34" charset="0"/>
                          <a:ea typeface="Arial" pitchFamily="34" charset="-122"/>
                          <a:cs typeface="Arial" pitchFamily="34" charset="-120"/>
                        </a:rPr>
                        <a:t>Descripción (Snippet en la SERP)</a:t>
                      </a:r>
                      <a:endParaRPr lang="en-US" sz="9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Guía SEO para Principiantes. Los 7 Imprescindibles. - DinoRANK</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(dinorank.com)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Guía de SEO para principiantes. Los pasos imprescindibles para posicionar tu web sin complicaciones.</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Guía de optimización en buscadores (SEO) para principiantes - Google for Developers</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(googlefordevelopers.com)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Saber algo de SEO puede ser de mucha ayuda. Consulta la Guía de SEO para principiantes de Google para conocer los aspectos básicos de la optimización en buscadores.</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Curso de SEO gratis de HubSpot</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(google.com)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Hemos diseñado un curso para aprender de SEO que te ayudará a alcanzar 4 objetivos principales.</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Curso de SEO [Gratis y Certificado] - Edutin Academy</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(edutinacademy.com)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En este curso de SEO aprenderás el uso de las técnicas de posicionamiento web on page y off page.</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los mejores cursos de SEO gratis con certificación - Semrush</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(semrush.com)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Descubre nuestros mejores cursos de SEO impartidos por los mejores expertos.</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Curso SEO GRATIS (100% práctico) - Webpositer Academy</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(webpositeracademy.com)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Aprender las bases del SEO de manera profesional y entender la importancia de estar en los primeros resultados de Google.</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Qué es SEO: guía para principiantes - Wix</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(wix.com)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El SEO es esencial para que los sitios web mejoren su visibilidad en línea y atraigan tráfico orgánico de calidad.</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Tips para aprender SEO desde cero - Esneca</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(esneca.com)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Comenzar a adentrarte en el mundo del posicionamiento orgánico de webs puede ser complicado, pero aprender SEO no es difícil ni imposible.</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9</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10 Mejores Cursos de SEO Gratis Online (2025) - Rocío Santamaría</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(rocíosantamaría.com)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Si buscas una toma de contacto, empezar a coger una base firme de SEO o simplemente aclarar dudas, los cursos de Posicionamiento SEO online gratuitos son una buena opción.</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40822">
                <a:tc>
                  <a:txBody>
                    <a:bodyPr/>
                    <a:lstStyle/>
                    <a:p>
                      <a:pPr algn="ctr" indent="0" marL="0">
                        <a:buNone/>
                      </a:pPr>
                      <a:r>
                        <a:rPr lang="en-US" sz="850" dirty="0">
                          <a:solidFill>
                            <a:srgbClr val="374151"/>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50" b="1" dirty="0">
                          <a:solidFill>
                            <a:srgbClr val="2563EB"/>
                          </a:solidFill>
                          <a:latin typeface="Arial" pitchFamily="34" charset="0"/>
                          <a:ea typeface="Arial" pitchFamily="34" charset="-122"/>
                          <a:cs typeface="Arial" pitchFamily="34" charset="-120"/>
                        </a:rPr>
                        <a:t>¿Qué es SEO? Guía completa para entender el posicionamiento web en 2026 - Seology</a:t>
                      </a:r>
                      <a:endParaRPr lang="en-US" sz="850" dirty="0">
                        <a:latin typeface="Arial" charset="0"/>
                        <a:ea typeface="Arial" charset="0"/>
                        <a:cs typeface="Arial" charset="0"/>
                      </a:endParaRPr>
                    </a:p>
                    <a:p>
                      <a:pPr indent="0" marL="0">
                        <a:buNone/>
                      </a:pPr>
                      <a:r>
                        <a:rPr lang="en-US" sz="850" b="1" dirty="0">
                          <a:solidFill>
                            <a:srgbClr val="2563EB"/>
                          </a:solidFill>
                          <a:latin typeface="Arial" pitchFamily="34" charset="0"/>
                          <a:ea typeface="Arial" pitchFamily="34" charset="-122"/>
                          <a:cs typeface="Arial" pitchFamily="34" charset="-120"/>
                        </a:rPr>
                        <a:t>(seology.com)</a:t>
                      </a:r>
                      <a:endParaRPr lang="en-US" sz="85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4B5563"/>
                          </a:solidFill>
                          <a:latin typeface="Arial" pitchFamily="34" charset="0"/>
                          <a:ea typeface="Arial" pitchFamily="34" charset="-122"/>
                          <a:cs typeface="Arial" pitchFamily="34" charset="-120"/>
                        </a:rPr>
                        <a:t>La guía completa de SEO para entender el posicionamiento en Google y hacer crecer tu negocio.</a:t>
                      </a:r>
                      <a:endParaRPr lang="en-US" sz="800" dirty="0">
                        <a:latin typeface="Arial" charset="0"/>
                        <a:ea typeface="Arial" charset="0"/>
                        <a:cs typeface="Arial"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2026-05-28T22:00:51Z</dcterms:created>
  <dcterms:modified xsi:type="dcterms:W3CDTF">2026-05-28T22:00:51Z</dcterms:modified>
</cp:coreProperties>
</file>